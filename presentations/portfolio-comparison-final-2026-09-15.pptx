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D7C7"/>
          </a:solidFill>
          <a:ln w="12700">
            <a:solidFill>
              <a:srgbClr val="27D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7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AX6PRO  /  PORTFÓLIO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65105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839A"/>
                </a:solidFill>
              </a:rPr>
              <a:t>Dados declarados por Tiago • não auditados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731520"/>
            <a:ext cx="3474720" cy="3474720"/>
          </a:xfrm>
          <a:prstGeom prst="ellipse">
            <a:avLst/>
          </a:prstGeom>
          <a:solidFill>
            <a:srgbClr val="27D7C7">
              <a:alpha val="12000"/>
            </a:srgbClr>
          </a:solidFill>
          <a:ln w="12700">
            <a:solidFill>
              <a:srgbClr val="27D7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1828800"/>
            <a:ext cx="2651760" cy="2651760"/>
          </a:xfrm>
          <a:prstGeom prst="ellipse">
            <a:avLst/>
          </a:prstGeom>
          <a:solidFill>
            <a:srgbClr val="4E8CFF">
              <a:alpha val="16000"/>
            </a:srgbClr>
          </a:solidFill>
          <a:ln w="12700">
            <a:solidFill>
              <a:srgbClr val="4E8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PORTFÓLIO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AX6PRO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67512" y="2926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D7C7"/>
                </a:solidFill>
              </a:rPr>
              <a:t>Comparação final e recomendação de foco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" y="3493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5C5"/>
                </a:solidFill>
              </a:rPr>
              <a:t>Decisões para o próximo ciclo de 6 semanas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5285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B942"/>
                </a:solidFill>
              </a:rPr>
              <a:t>15 SET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5669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839A"/>
                </a:solidFill>
              </a:rPr>
              <a:t>Midas  •  Estratégia, caixa e execução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decisão em uma página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Dois focos de crescimento, uma opção em validação e menos dispersão operacional.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30352" y="157276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28216"/>
            <a:ext cx="1874520" cy="292608"/>
          </a:xfrm>
          <a:prstGeom prst="roundRect">
            <a:avLst/>
          </a:prstGeom>
          <a:solidFill>
            <a:srgbClr val="5ED49A">
              <a:alpha val="17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6479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D49A"/>
                </a:solidFill>
              </a:rPr>
              <a:t>INVESTIR TEMPO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" y="213969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 + Vant Clinic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" y="259689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Aprendizado comercial + avanço por marcos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2544" y="157276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7136" y="1728216"/>
            <a:ext cx="1874520" cy="292608"/>
          </a:xfrm>
          <a:prstGeom prst="roundRect">
            <a:avLst/>
          </a:prstGeom>
          <a:solidFill>
            <a:srgbClr val="F4B942">
              <a:alpha val="17000"/>
            </a:srgbClr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6479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942"/>
                </a:solidFill>
              </a:rPr>
              <a:t>RECUPERAR + VALIDAR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17136" y="213969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ScoreBetAI / Axio Vector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17136" y="259689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Passivo separado do capital de crescimento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74736" y="157276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728216"/>
            <a:ext cx="1874520" cy="292608"/>
          </a:xfrm>
          <a:prstGeom prst="roundRect">
            <a:avLst/>
          </a:prstGeom>
          <a:solidFill>
            <a:srgbClr val="4E8CFF">
              <a:alpha val="17000"/>
            </a:srgbClr>
          </a:solidFill>
          <a:ln w="10160">
            <a:solidFill>
              <a:srgbClr val="4E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76479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8CFF"/>
                </a:solidFill>
              </a:rPr>
              <a:t>DELEGAR + MEDIR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39328" y="213969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259689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Lucas mantém a liderança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344728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602736"/>
            <a:ext cx="1874520" cy="292608"/>
          </a:xfrm>
          <a:prstGeom prst="roundRect">
            <a:avLst/>
          </a:prstGeom>
          <a:solidFill>
            <a:srgbClr val="27D7C7">
              <a:alpha val="17000"/>
            </a:srgbClr>
          </a:solidFill>
          <a:ln w="10160">
            <a:solidFill>
              <a:srgbClr val="27D7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3931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D7C7"/>
                </a:solidFill>
              </a:rPr>
              <a:t>TESTAR RAPIDAMENTE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401421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Bit2Connect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94944" y="447141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proposta paga antes de mais produto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52544" y="344728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3602736"/>
            <a:ext cx="1874520" cy="292608"/>
          </a:xfrm>
          <a:prstGeom prst="roundRect">
            <a:avLst/>
          </a:prstGeom>
          <a:solidFill>
            <a:srgbClr val="FF647C">
              <a:alpha val="17000"/>
            </a:srgbClr>
          </a:solidFill>
          <a:ln w="10160">
            <a:solidFill>
              <a:srgbClr val="FF64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63931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47C"/>
                </a:solidFill>
              </a:rPr>
              <a:t>PAUSAR DESENVOLVIMENTO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17136" y="401421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Tutufi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17136" y="447141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com pais antes de construir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174736" y="344728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602736"/>
            <a:ext cx="1874520" cy="292608"/>
          </a:xfrm>
          <a:prstGeom prst="roundRect">
            <a:avLst/>
          </a:prstGeom>
          <a:solidFill>
            <a:srgbClr val="9C7BFF">
              <a:alpha val="17000"/>
            </a:srgbClr>
          </a:solidFill>
          <a:ln w="10160">
            <a:solidFill>
              <a:srgbClr val="9C7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639312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7BFF"/>
                </a:solidFill>
              </a:rPr>
              <a:t>INTEGRAR OU PAUSAR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39328" y="4014216"/>
            <a:ext cx="3090672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PingysTV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39328" y="4471416"/>
            <a:ext cx="3063240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mensurável do Pingys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" y="5577840"/>
            <a:ext cx="11109960" cy="512064"/>
          </a:xfrm>
          <a:prstGeom prst="roundRect">
            <a:avLst>
              <a:gd name="adj" fmla="val 21429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715000"/>
            <a:ext cx="123444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 central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38528" y="5650992"/>
            <a:ext cx="909828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Nenhum projeto ganha tempo ou capital por atividade; ganha por evidência que reduz incerteza.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Ranking final de prioridade de crescimento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Ordem para alocação de atenção — não confundir com prioridade de controle de risco.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36776"/>
            <a:ext cx="393192" cy="393192"/>
          </a:xfrm>
          <a:prstGeom prst="ellipse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65506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retenção e aquisição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44144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2596896"/>
            <a:ext cx="393192" cy="393192"/>
          </a:xfrm>
          <a:prstGeom prst="ellipse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61518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54203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 Clinic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80720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Avançar por marcos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3557016"/>
            <a:ext cx="393192" cy="39319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57530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0215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 Vector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e validar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36168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4517136"/>
            <a:ext cx="393192" cy="393192"/>
          </a:xfrm>
          <a:prstGeom prst="ellipse">
            <a:avLst/>
          </a:prstGeom>
          <a:solidFill>
            <a:srgbClr val="4E8CFF"/>
          </a:solidFill>
          <a:ln w="12700">
            <a:solidFill>
              <a:srgbClr val="4E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53542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46227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72744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Delegar e medir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81928" y="148132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9944" y="1636776"/>
            <a:ext cx="393192" cy="393192"/>
          </a:xfrm>
          <a:prstGeom prst="ellipse">
            <a:avLst/>
          </a:prstGeom>
          <a:solidFill>
            <a:srgbClr val="27D7C7"/>
          </a:solidFill>
          <a:ln w="12700">
            <a:solidFill>
              <a:srgbClr val="27D7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165506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58191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Bit2Connect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84708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 comercial curto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81928" y="244144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2596896"/>
            <a:ext cx="393192" cy="393192"/>
          </a:xfrm>
          <a:prstGeom prst="ellipse">
            <a:avLst/>
          </a:prstGeom>
          <a:solidFill>
            <a:srgbClr val="FF647C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61518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254203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Tutufi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280720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Pausar; somente discovery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81928" y="3401568"/>
            <a:ext cx="5285232" cy="713232"/>
          </a:xfrm>
          <a:prstGeom prst="roundRect">
            <a:avLst>
              <a:gd name="adj" fmla="val 15385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9944" y="3557016"/>
            <a:ext cx="393192" cy="393192"/>
          </a:xfrm>
          <a:prstGeom prst="ellipse">
            <a:avLst/>
          </a:prstGeom>
          <a:solidFill>
            <a:srgbClr val="9C7BFF"/>
          </a:solidFill>
          <a:ln w="12700">
            <a:solidFill>
              <a:srgbClr val="9C7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3575304"/>
            <a:ext cx="3931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03720" y="3502152"/>
            <a:ext cx="4535424" cy="23774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PingysTV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767328"/>
            <a:ext cx="453542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do Pingys ou pausa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4370832"/>
            <a:ext cx="5285232" cy="932688"/>
          </a:xfrm>
          <a:prstGeom prst="roundRect">
            <a:avLst>
              <a:gd name="adj" fmla="val 11765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4517136"/>
            <a:ext cx="141732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correta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09560" y="4416552"/>
            <a:ext cx="3401568" cy="5029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 é #1 em controle de risco,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 ainda #3 em crescimento.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Comparação estratégica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Posicionamento qualitativo com base nas evidências atuais — não é uma avaliação financeira auditada.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51560" y="1673352"/>
            <a:ext cx="10012680" cy="0"/>
          </a:xfrm>
          <a:prstGeom prst="line">
            <a:avLst/>
          </a:prstGeom>
          <a:noFill/>
          <a:ln w="15240">
            <a:solidFill>
              <a:srgbClr val="2436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673352"/>
            <a:ext cx="0" cy="4041648"/>
          </a:xfrm>
          <a:prstGeom prst="line">
            <a:avLst/>
          </a:prstGeom>
          <a:noFill/>
          <a:ln w="15240">
            <a:solidFill>
              <a:srgbClr val="2436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1673352"/>
            <a:ext cx="0" cy="4041648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4906670"/>
            <a:ext cx="10012680" cy="0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56632" y="1673352"/>
            <a:ext cx="0" cy="4041648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4098341"/>
            <a:ext cx="10012680" cy="0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673352"/>
            <a:ext cx="0" cy="4041648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290011"/>
            <a:ext cx="10012680" cy="0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61704" y="1673352"/>
            <a:ext cx="0" cy="4041648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481682"/>
            <a:ext cx="10012680" cy="0"/>
          </a:xfrm>
          <a:prstGeom prst="line">
            <a:avLst/>
          </a:prstGeom>
          <a:noFill/>
          <a:ln w="6350">
            <a:solidFill>
              <a:srgbClr val="24365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5833872"/>
            <a:ext cx="288036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EVIDÊNCIA / TRAÇÃO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5833872"/>
            <a:ext cx="182880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EVIDÊNCIA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194560"/>
            <a:ext cx="274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B5C5"/>
                </a:solidFill>
              </a:rPr>
              <a:t>POTENCIAL / IMPACTO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92440" y="2871216"/>
            <a:ext cx="310896" cy="310896"/>
          </a:xfrm>
          <a:prstGeom prst="ellipse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310896" cy="310896"/>
          </a:xfrm>
          <a:prstGeom prst="ellipse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130552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1709928"/>
            <a:ext cx="310896" cy="31089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3794760"/>
            <a:ext cx="310896" cy="310896"/>
          </a:xfrm>
          <a:prstGeom prst="ellipse">
            <a:avLst/>
          </a:prstGeom>
          <a:solidFill>
            <a:srgbClr val="4E8CFF"/>
          </a:solidFill>
          <a:ln w="12700">
            <a:solidFill>
              <a:srgbClr val="4E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4297680"/>
            <a:ext cx="310896" cy="310896"/>
          </a:xfrm>
          <a:prstGeom prst="ellipse">
            <a:avLst/>
          </a:prstGeom>
          <a:solidFill>
            <a:srgbClr val="27D7C7"/>
          </a:solidFill>
          <a:ln w="12700">
            <a:solidFill>
              <a:srgbClr val="27D7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279392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3886200"/>
            <a:ext cx="310896" cy="310896"/>
          </a:xfrm>
          <a:prstGeom prst="ellipse">
            <a:avLst/>
          </a:prstGeom>
          <a:solidFill>
            <a:srgbClr val="FF647C"/>
          </a:solidFill>
          <a:ln w="12700">
            <a:solidFill>
              <a:srgbClr val="FF64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07208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Tutufi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4828032"/>
            <a:ext cx="310896" cy="310896"/>
          </a:xfrm>
          <a:prstGeom prst="ellipse">
            <a:avLst/>
          </a:prstGeom>
          <a:solidFill>
            <a:srgbClr val="9C7BFF"/>
          </a:solidFill>
          <a:ln w="12700">
            <a:solidFill>
              <a:srgbClr val="9C7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95728" y="4809744"/>
            <a:ext cx="1097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PingysTV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23960" y="1572768"/>
            <a:ext cx="1051560" cy="292608"/>
          </a:xfrm>
          <a:prstGeom prst="roundRect">
            <a:avLst/>
          </a:prstGeom>
          <a:solidFill>
            <a:srgbClr val="5ED49A">
              <a:alpha val="17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78824" y="160934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D49A"/>
                </a:solidFill>
              </a:rPr>
              <a:t>FOCOS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94760" y="1234440"/>
            <a:ext cx="1051560" cy="292608"/>
          </a:xfrm>
          <a:prstGeom prst="roundRect">
            <a:avLst/>
          </a:prstGeom>
          <a:solidFill>
            <a:srgbClr val="F4B942">
              <a:alpha val="17000"/>
            </a:srgbClr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9624" y="1271016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942"/>
                </a:solidFill>
              </a:rPr>
              <a:t>OPÇÃO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34440" y="5166360"/>
            <a:ext cx="1051560" cy="292608"/>
          </a:xfrm>
          <a:prstGeom prst="roundRect">
            <a:avLst/>
          </a:prstGeom>
          <a:solidFill>
            <a:srgbClr val="FF647C">
              <a:alpha val="17000"/>
            </a:srgbClr>
          </a:solidFill>
          <a:ln w="10160">
            <a:solidFill>
              <a:srgbClr val="FF64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9304" y="5202936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47C"/>
                </a:solidFill>
              </a:rPr>
              <a:t>PAUSAR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Dois motores de progresso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Pingys acelera aprendizado comercial. Vant converte capital já disponível em marcos verificáveis.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22392" cy="4407408"/>
          </a:xfrm>
          <a:prstGeom prst="roundRect">
            <a:avLst>
              <a:gd name="adj" fmla="val 249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19072"/>
            <a:ext cx="1234440" cy="292608"/>
          </a:xfrm>
          <a:prstGeom prst="roundRect">
            <a:avLst/>
          </a:prstGeom>
          <a:solidFill>
            <a:srgbClr val="5ED49A">
              <a:alpha val="17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5564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D49A"/>
                </a:solidFill>
              </a:rPr>
              <a:t>PRIORIDADE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176272"/>
            <a:ext cx="246888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86384" y="2761488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862072"/>
            <a:ext cx="11978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6112" y="3236976"/>
            <a:ext cx="11978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0008" y="2761488"/>
            <a:ext cx="1609344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9736" y="2862072"/>
            <a:ext cx="1389888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382 BRL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9736" y="3236976"/>
            <a:ext cx="1389888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 declarado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2761488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862072"/>
            <a:ext cx="11978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24528" y="3236976"/>
            <a:ext cx="11978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4114800"/>
            <a:ext cx="452628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retenção, atividade, conversão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custo antes de escalar aquisição.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5212080"/>
            <a:ext cx="4526280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dados de 3 meses + entrevistas + 1 experimento rastreável.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1481328"/>
            <a:ext cx="5422392" cy="4407408"/>
          </a:xfrm>
          <a:prstGeom prst="roundRect">
            <a:avLst>
              <a:gd name="adj" fmla="val 249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1719072"/>
            <a:ext cx="1234440" cy="292608"/>
          </a:xfrm>
          <a:prstGeom prst="roundRect">
            <a:avLst/>
          </a:prstGeom>
          <a:solidFill>
            <a:srgbClr val="5ED49A">
              <a:alpha val="17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175564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D49A"/>
                </a:solidFill>
              </a:rPr>
              <a:t>PRIORIDADE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28232" y="2176272"/>
            <a:ext cx="3017520" cy="4114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 Clinic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6428232" y="2761488"/>
            <a:ext cx="1572768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862072"/>
            <a:ext cx="1353312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&gt;95%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37960" y="3236976"/>
            <a:ext cx="1353312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 disponível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56448" y="2761488"/>
            <a:ext cx="14173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2862072"/>
            <a:ext cx="11978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66176" y="3236976"/>
            <a:ext cx="11978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participação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729216" y="2761488"/>
            <a:ext cx="1627632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38944" y="2862072"/>
            <a:ext cx="1408176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838944" y="3236976"/>
            <a:ext cx="1408176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papel de Tiago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28232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28232" y="4114800"/>
            <a:ext cx="4526280" cy="6858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Avançar por critérios técnicos,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regulatórios e orçamento por etapa.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28232" y="5212080"/>
            <a:ext cx="4526280" cy="38404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Gate: protocolo, critérios de aprovação e caminho regulatório.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Axio Vector: obrigação e oportunidade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O passivo exige controle; o pivot exige validação. Os dois orçamentos não devem se misturar.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609344"/>
            <a:ext cx="21122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24K CAD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" y="1984248"/>
            <a:ext cx="21122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obrigações aproximadas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72384" y="150876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609344"/>
            <a:ext cx="21122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 CAD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82112" y="1984248"/>
            <a:ext cx="21122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compromisso mensal de Tiago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150876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609344"/>
            <a:ext cx="21122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88,46%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87568" y="1984248"/>
            <a:ext cx="21122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teto pessoal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83296" y="150876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609344"/>
            <a:ext cx="2112264" cy="31089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CAD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93024" y="1984248"/>
            <a:ext cx="2112264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sobra para outros projetos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2615184"/>
            <a:ext cx="5257800" cy="2587752"/>
          </a:xfrm>
          <a:prstGeom prst="roundRect">
            <a:avLst>
              <a:gd name="adj" fmla="val 424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852928"/>
            <a:ext cx="1325880" cy="292608"/>
          </a:xfrm>
          <a:prstGeom prst="roundRect">
            <a:avLst/>
          </a:prstGeom>
          <a:solidFill>
            <a:srgbClr val="FF647C">
              <a:alpha val="17000"/>
            </a:srgbClr>
          </a:solidFill>
          <a:ln w="10160">
            <a:solidFill>
              <a:srgbClr val="FF64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8895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47C"/>
                </a:solidFill>
              </a:rPr>
              <a:t>RECUPERAÇÃO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receber os 230 CAD se…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4526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Sócios formalizam contribuições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114800"/>
            <a:ext cx="4526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Déficit externo é protegido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434840"/>
            <a:ext cx="4526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Nenhuma nova dívida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754880"/>
            <a:ext cx="452628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Receita acelera amortização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2615184"/>
            <a:ext cx="5577840" cy="2587752"/>
          </a:xfrm>
          <a:prstGeom prst="roundRect">
            <a:avLst>
              <a:gd name="adj" fmla="val 424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2852928"/>
            <a:ext cx="1627632" cy="292608"/>
          </a:xfrm>
          <a:prstGeom prst="roundRect">
            <a:avLst/>
          </a:prstGeom>
          <a:solidFill>
            <a:srgbClr val="F4B942">
              <a:alpha val="17000"/>
            </a:srgbClr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288950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942"/>
                </a:solidFill>
              </a:rPr>
              <a:t>CRESCIMENTO B2B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1072" y="3310128"/>
            <a:ext cx="438912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 recebe capital após…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55080" y="3794760"/>
            <a:ext cx="466344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Owner comercial nomeado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4114800"/>
            <a:ext cx="466344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MVP sinais/API inventariado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434840"/>
            <a:ext cx="466344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Entrevistas com family offices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754880"/>
            <a:ext cx="4663440" cy="25603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Caminho concreto para piloto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440680"/>
            <a:ext cx="11064240" cy="475488"/>
          </a:xfrm>
          <a:prstGeom prst="roundRect">
            <a:avLst>
              <a:gd name="adj" fmla="val 23077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5568696"/>
            <a:ext cx="1143000" cy="21031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Posição atual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20240" y="5513832"/>
            <a:ext cx="9052560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Preservar o ativo • corrigir comunicação • validar antes de construir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Demais projetos: preservar opções sem dispersão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Cada projeto recebe uma única próxima decisão — não um roadmap paralelo.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1417320" cy="292608"/>
          </a:xfrm>
          <a:prstGeom prst="roundRect">
            <a:avLst/>
          </a:prstGeom>
          <a:solidFill>
            <a:srgbClr val="4E8CFF">
              <a:alpha val="17000"/>
            </a:srgbClr>
          </a:solidFill>
          <a:ln w="10160">
            <a:solidFill>
              <a:srgbClr val="4E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8249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8CFF"/>
                </a:solidFill>
              </a:rPr>
              <a:t>DELEGAR + MEDIR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029968"/>
            <a:ext cx="228600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4754880" cy="24688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pagantes • 223 BRL MRR • Tiago 5%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2779776"/>
            <a:ext cx="47365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Lucas entrega retenção, atividade e desempenho da mídia.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48132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645920"/>
            <a:ext cx="1417320" cy="292608"/>
          </a:xfrm>
          <a:prstGeom prst="roundRect">
            <a:avLst/>
          </a:prstGeom>
          <a:solidFill>
            <a:srgbClr val="27D7C7">
              <a:alpha val="17000"/>
            </a:srgbClr>
          </a:solidFill>
          <a:ln w="10160">
            <a:solidFill>
              <a:srgbClr val="27D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68249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D7C7"/>
                </a:solidFill>
              </a:rPr>
              <a:t>TESTAR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73368" y="2029968"/>
            <a:ext cx="228600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Bit2Connect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73368" y="2423160"/>
            <a:ext cx="4754880" cy="24688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usuário gratuito há &gt;1 ano • custo &lt;15 CAD/mês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3368" y="2779776"/>
            <a:ext cx="47365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paga/contrapartida e teste com empresas semelhantes.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840480"/>
            <a:ext cx="1417320" cy="292608"/>
          </a:xfrm>
          <a:prstGeom prst="roundRect">
            <a:avLst/>
          </a:prstGeom>
          <a:solidFill>
            <a:srgbClr val="FF647C">
              <a:alpha val="17000"/>
            </a:srgbClr>
          </a:solidFill>
          <a:ln w="10160">
            <a:solidFill>
              <a:srgbClr val="FF64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7705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47C"/>
                </a:solidFill>
              </a:rPr>
              <a:t>PAUSAR 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4224528"/>
            <a:ext cx="228600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Tutufi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4617720"/>
            <a:ext cx="4754880" cy="24688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Protótipo + backend • sem teste com pais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" y="4974336"/>
            <a:ext cx="47365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owner/cap table e validar intenção de pagamento.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675888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3368" y="3840480"/>
            <a:ext cx="1417320" cy="292608"/>
          </a:xfrm>
          <a:prstGeom prst="roundRect">
            <a:avLst/>
          </a:prstGeom>
          <a:solidFill>
            <a:srgbClr val="9C7BFF">
              <a:alpha val="17000"/>
            </a:srgbClr>
          </a:solidFill>
          <a:ln w="10160">
            <a:solidFill>
              <a:srgbClr val="9C7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87705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7BFF"/>
                </a:solidFill>
              </a:rPr>
              <a:t>INTEGRAR OU PAUSAR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73368" y="4224528"/>
            <a:ext cx="2286000" cy="32918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PingysTV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73368" y="4617720"/>
            <a:ext cx="4754880" cy="24688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5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Audiência pública sem atribuição econômica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73368" y="4974336"/>
            <a:ext cx="473659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Virar canal do Pingys com funil mensurável — ou parar.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Alocação recomendada: 18 horas por semana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Ciclo de seis semanas. O tempo acompanha a próxima evidência, não o tamanho da ideia.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97480" y="1600200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600200"/>
            <a:ext cx="6949440" cy="256032"/>
          </a:xfrm>
          <a:prstGeom prst="roundRect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7232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221992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 Clinic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267712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267712"/>
            <a:ext cx="5791200" cy="256032"/>
          </a:xfrm>
          <a:prstGeom prst="roundRect">
            <a:avLst/>
          </a:prstGeom>
          <a:solidFill>
            <a:srgbClr val="5ED49A"/>
          </a:solidFill>
          <a:ln w="12700">
            <a:solidFill>
              <a:srgbClr val="5ED4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57232" y="2221992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889504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 Vector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2935224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935224"/>
            <a:ext cx="3474720" cy="25603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57232" y="2889504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557016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do portfólio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697480" y="3602736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3602736"/>
            <a:ext cx="2316480" cy="256032"/>
          </a:xfrm>
          <a:prstGeom prst="roundRect">
            <a:avLst/>
          </a:prstGeom>
          <a:solidFill>
            <a:srgbClr val="4E8CFF"/>
          </a:solidFill>
          <a:ln w="12700">
            <a:solidFill>
              <a:srgbClr val="4E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57232" y="3557016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97480" y="4270248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7480" y="4270248"/>
            <a:ext cx="1158240" cy="256032"/>
          </a:xfrm>
          <a:prstGeom prst="roundRect">
            <a:avLst/>
          </a:prstGeom>
          <a:solidFill>
            <a:srgbClr val="4E8CFF"/>
          </a:solidFill>
          <a:ln w="12700">
            <a:solidFill>
              <a:srgbClr val="4E8C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4224528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892040"/>
            <a:ext cx="201168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Outros 3 projetos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4937760"/>
            <a:ext cx="6949440" cy="256032"/>
          </a:xfrm>
          <a:prstGeom prst="roundRect">
            <a:avLst/>
          </a:prstGeom>
          <a:solidFill>
            <a:srgbClr val="13243A"/>
          </a:solidFill>
          <a:ln w="12700">
            <a:solidFill>
              <a:srgbClr val="1324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4937760"/>
            <a:ext cx="1158240" cy="256032"/>
          </a:xfrm>
          <a:prstGeom prst="roundRect">
            <a:avLst/>
          </a:prstGeom>
          <a:solidFill>
            <a:srgbClr val="73839A"/>
          </a:solidFill>
          <a:ln w="12700">
            <a:solidFill>
              <a:srgbClr val="738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57232" y="4892040"/>
            <a:ext cx="914400" cy="292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3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5623560"/>
            <a:ext cx="10789920" cy="475488"/>
          </a:xfrm>
          <a:prstGeom prst="roundRect">
            <a:avLst>
              <a:gd name="adj" fmla="val 23077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751576"/>
            <a:ext cx="1417320" cy="2011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6 semanas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58568" y="5687568"/>
            <a:ext cx="8183880" cy="28346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Realocar horas somente para projetos que apresentarem evidência material.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Gates do próximo ciclo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O resultado esperado não é “mais trabalho”; é uma decisão melhor sustentada.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536192" cy="429768"/>
          </a:xfrm>
          <a:prstGeom prst="roundRect">
            <a:avLst/>
          </a:prstGeom>
          <a:solidFill>
            <a:srgbClr val="5ED49A">
              <a:alpha val="20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72768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1691640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7792" y="1453896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545336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 + atividade + conversão + experimento rastreável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03704"/>
            <a:ext cx="1536192" cy="429768"/>
          </a:xfrm>
          <a:prstGeom prst="roundRect">
            <a:avLst/>
          </a:prstGeom>
          <a:solidFill>
            <a:srgbClr val="5ED49A">
              <a:alpha val="20000"/>
            </a:srgbClr>
          </a:solidFill>
          <a:ln w="10160">
            <a:solidFill>
              <a:srgbClr val="5ED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95144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2414016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176272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2267712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dos testes + protocolo real + mapa regulatório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1536192" cy="429768"/>
          </a:xfrm>
          <a:prstGeom prst="roundRect">
            <a:avLst/>
          </a:prstGeom>
          <a:solidFill>
            <a:srgbClr val="F4B942">
              <a:alpha val="20000"/>
            </a:srgbClr>
          </a:solidFill>
          <a:ln w="1016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17520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136392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2898648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2990088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+ inventário do MVP + entrevistas + caminho para piloto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1536192" cy="429768"/>
          </a:xfrm>
          <a:prstGeom prst="roundRect">
            <a:avLst/>
          </a:prstGeom>
          <a:solidFill>
            <a:srgbClr val="4E8CFF">
              <a:alpha val="20000"/>
            </a:srgbClr>
          </a:solidFill>
          <a:ln w="10160">
            <a:solidFill>
              <a:srgbClr val="4E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39896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WLKME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3858768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3621024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3712464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Retenção + custo/origem dos pagantes + plano de Lucas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4370832"/>
            <a:ext cx="1536192" cy="429768"/>
          </a:xfrm>
          <a:prstGeom prst="roundRect">
            <a:avLst/>
          </a:prstGeom>
          <a:solidFill>
            <a:srgbClr val="27D7C7">
              <a:alpha val="20000"/>
            </a:srgbClr>
          </a:solidFill>
          <a:ln w="10160">
            <a:solidFill>
              <a:srgbClr val="27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62272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D7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BIT2CONNECT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4581144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7792" y="4343400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4434840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 paga ou contrapartida ao cliente atual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5093208"/>
            <a:ext cx="1536192" cy="429768"/>
          </a:xfrm>
          <a:prstGeom prst="roundRect">
            <a:avLst/>
          </a:prstGeom>
          <a:solidFill>
            <a:srgbClr val="FF647C">
              <a:alpha val="20000"/>
            </a:srgbClr>
          </a:solidFill>
          <a:ln w="10160">
            <a:solidFill>
              <a:srgbClr val="FF64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184648"/>
            <a:ext cx="1408176" cy="21945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TUTUFI / TV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31720" y="5303520"/>
            <a:ext cx="530352" cy="0"/>
          </a:xfrm>
          <a:prstGeom prst="line">
            <a:avLst/>
          </a:prstGeom>
          <a:noFill/>
          <a:ln w="19050">
            <a:solidFill>
              <a:srgbClr val="2436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7792" y="5065776"/>
            <a:ext cx="8641080" cy="493776"/>
          </a:xfrm>
          <a:prstGeom prst="roundRect">
            <a:avLst>
              <a:gd name="adj" fmla="val 22222"/>
            </a:avLst>
          </a:prstGeom>
          <a:solidFill>
            <a:srgbClr val="101D2E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5157216"/>
            <a:ext cx="8156448" cy="27432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e discovery / atribuição ao funil ou pausa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Recomendação final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2064" y="10241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5C5"/>
                </a:solidFill>
              </a:rPr>
              <a:t>Um portfólio menor na prática — ainda que mantenha opções no papel.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0991088" cy="987552"/>
          </a:xfrm>
          <a:prstGeom prst="roundRect">
            <a:avLst>
              <a:gd name="adj" fmla="val 11111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25880" y="1746504"/>
            <a:ext cx="9601200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Pingys é a prioridade de aprendizado comercial.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94360" y="2761488"/>
            <a:ext cx="10991088" cy="987552"/>
          </a:xfrm>
          <a:prstGeom prst="roundRect">
            <a:avLst>
              <a:gd name="adj" fmla="val 11111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ED4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2935224"/>
            <a:ext cx="9601200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 Clinic é a prioridade executiva e de construção.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94360" y="3950208"/>
            <a:ext cx="10991088" cy="987552"/>
          </a:xfrm>
          <a:prstGeom prst="roundRect">
            <a:avLst>
              <a:gd name="adj" fmla="val 11111"/>
            </a:avLst>
          </a:prstGeom>
          <a:solidFill>
            <a:srgbClr val="0D1929"/>
          </a:solidFill>
          <a:ln w="10160">
            <a:solidFill>
              <a:srgbClr val="24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25880" y="4123944"/>
            <a:ext cx="9601200" cy="420624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Axio Vector é a prioridade de controle e validação.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21792" y="5623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60" kern="0" dirty="0">
                <a:solidFill>
                  <a:srgbClr val="27D7C7"/>
                </a:solidFill>
              </a:rPr>
              <a:t>FOCO  •  EVIDÊNCIA  •  CAIXA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56509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B5C5"/>
                </a:solidFill>
              </a:rPr>
              <a:t>Reavaliar em 6 semanas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20116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39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Ax6Pro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Ax6Pro — comparação final</dc:title>
  <dc:subject>Comparação final do portfólio Ax6Pro</dc:subject>
  <dc:creator>Midas — consultor de negócios de Tiago Pereira</dc:creator>
  <cp:lastModifiedBy>Midas — consultor de negócios de Tiago Pereira</cp:lastModifiedBy>
  <cp:revision>1</cp:revision>
  <dcterms:created xsi:type="dcterms:W3CDTF">2026-09-15T21:22:04Z</dcterms:created>
  <dcterms:modified xsi:type="dcterms:W3CDTF">2026-09-15T21:22:04Z</dcterms:modified>
</cp:coreProperties>
</file>